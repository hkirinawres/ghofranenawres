
<file path=[Content_Types].xml><?xml version="1.0" encoding="utf-8"?>
<Types xmlns="http://schemas.openxmlformats.org/package/2006/content-types"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14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594C374-32A4-4B77-A0F9-93D2068F3157}"/>
              </a:ext>
            </a:extLst>
          </p:cNvPr>
          <p:cNvSpPr/>
          <p:nvPr/>
        </p:nvSpPr>
        <p:spPr>
          <a:xfrm>
            <a:off x="762000" y="495300"/>
            <a:ext cx="323850" cy="323850"/>
          </a:xfrm>
          <a:prstGeom prst="hexagon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AE2804D-0E14-43C6-8BD9-947EC85A6423}"/>
              </a:ext>
            </a:extLst>
          </p:cNvPr>
          <p:cNvSpPr txBox="1"/>
          <p:nvPr/>
        </p:nvSpPr>
        <p:spPr>
          <a:xfrm>
            <a:off x="1219200" y="409575"/>
            <a:ext cx="9525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  <a:ea typeface="Segoe UI"/>
              </a:rPr>
              <a:t>Contexte &amp; objectifs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F74AFA1-F8FD-42EC-A7BB-049E379D4744}"/>
              </a:ext>
            </a:extLst>
          </p:cNvPr>
          <p:cNvSpPr/>
          <p:nvPr/>
        </p:nvSpPr>
        <p:spPr>
          <a:xfrm>
            <a:off x="762000" y="1428750"/>
            <a:ext cx="5191125" cy="44767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DAEF2CA-D884-4B46-AE1E-61F1BD4A6EA7}"/>
              </a:ext>
            </a:extLst>
          </p:cNvPr>
          <p:cNvSpPr txBox="1"/>
          <p:nvPr/>
        </p:nvSpPr>
        <p:spPr>
          <a:xfrm>
            <a:off x="1066800" y="1695450"/>
            <a:ext cx="4572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LE PROBLÈME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EC5D6A5-91DD-4386-90A1-559BB571FDEE}"/>
              </a:ext>
            </a:extLst>
          </p:cNvPr>
          <p:cNvSpPr txBox="1"/>
          <p:nvPr/>
        </p:nvSpPr>
        <p:spPr>
          <a:xfrm>
            <a:off x="1066800" y="2095500"/>
            <a:ext cx="4581525" cy="3810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Les pipelines CI/CD classiques automatisent compilation, tests et déploiement — mais intègrent rarement la sécurité de façon bloquante.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Résultat : une vulnérabilité critique peut atteindre la production tant que les tests fonctionnels passent.</a:t>
            </a:r>
          </a:p>
          <a:p>
            <a:pPr algn="l">
              <a:lnSpc>
                <a:spcPct val="128000"/>
              </a:lnSpc>
            </a:pPr>
            <a:r>
              <a:rPr sz="1500">
                <a:solidFill>
                  <a:srgbClr val="9FB3C8"/>
                </a:solidFill>
                <a:latin typeface="Segoe UI"/>
                <a:ea typeface="Segoe UI"/>
              </a:rPr>
              <a:t>Quand elle existe, la sécurité est tardive (après déploiement), manuelle et non centralisée.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67E083D-A310-4A1E-A17A-32B2543B37F4}"/>
              </a:ext>
            </a:extLst>
          </p:cNvPr>
          <p:cNvSpPr/>
          <p:nvPr/>
        </p:nvSpPr>
        <p:spPr>
          <a:xfrm>
            <a:off x="6238875" y="1428750"/>
            <a:ext cx="5191125" cy="44767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128B6AB-F4E8-462C-BDCC-D806D1DE153D}"/>
              </a:ext>
            </a:extLst>
          </p:cNvPr>
          <p:cNvSpPr txBox="1"/>
          <p:nvPr/>
        </p:nvSpPr>
        <p:spPr>
          <a:xfrm>
            <a:off x="6543675" y="1695450"/>
            <a:ext cx="4572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  <a:ea typeface="Segoe UI"/>
              </a:rPr>
              <a:t>NOTRE OBJECTIF — SHIFT-LEFT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7251717-AAD5-48CF-A42D-8182718D9899}"/>
              </a:ext>
            </a:extLst>
          </p:cNvPr>
          <p:cNvSpPr txBox="1"/>
          <p:nvPr/>
        </p:nvSpPr>
        <p:spPr>
          <a:xfrm>
            <a:off x="6543675" y="2095500"/>
            <a:ext cx="4581525" cy="3810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Détecter tôt : </a:t>
            </a: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dès le poste du développeur (IDE sécurisé + pre-commit hooks).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Bloquer automatiquement : </a:t>
            </a: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toute vulnérabilité critique avant la production, via des quality gates à seuils justifiés.</a:t>
            </a:r>
          </a:p>
          <a:p>
            <a:pPr algn="l">
              <a:lnSpc>
                <a:spcPct val="128000"/>
              </a:lnSpc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Culture continue : </a:t>
            </a: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retour rapide, explication de chaque faille, traçabilité des décisions.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BC13218-E49B-419E-A8FB-7C2EB018A7DC}"/>
              </a:ext>
            </a:extLst>
          </p:cNvPr>
          <p:cNvSpPr/>
          <p:nvPr/>
        </p:nvSpPr>
        <p:spPr>
          <a:xfrm>
            <a:off x="762000" y="495300"/>
            <a:ext cx="323850" cy="323850"/>
          </a:xfrm>
          <a:prstGeom prst="hexagon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7D0F237-58E3-4AED-B7DE-19A7AC89DCBF}"/>
              </a:ext>
            </a:extLst>
          </p:cNvPr>
          <p:cNvSpPr txBox="1"/>
          <p:nvPr/>
        </p:nvSpPr>
        <p:spPr>
          <a:xfrm>
            <a:off x="1219200" y="409575"/>
            <a:ext cx="104775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  <a:ea typeface="Segoe UI"/>
              </a:rPr>
              <a:t>État des lieux (as-is) &amp; faiblesses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8D9060C-D1DB-4AA5-8E4A-AE6C30452E23}"/>
              </a:ext>
            </a:extLst>
          </p:cNvPr>
          <p:cNvSpPr/>
          <p:nvPr/>
        </p:nvSpPr>
        <p:spPr>
          <a:xfrm>
            <a:off x="762000" y="1381125"/>
            <a:ext cx="4000500" cy="476250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50F2670-DAF9-47DD-937E-B3F14CC7453D}"/>
              </a:ext>
            </a:extLst>
          </p:cNvPr>
          <p:cNvSpPr txBox="1"/>
          <p:nvPr/>
        </p:nvSpPr>
        <p:spPr>
          <a:xfrm>
            <a:off x="1028700" y="1638300"/>
            <a:ext cx="3429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9FB3C8"/>
                </a:solidFill>
                <a:latin typeface="Segoe UI"/>
                <a:ea typeface="Segoe UI"/>
              </a:rPr>
              <a:t>PIPELINE D'ORIGINE — FONCTIONNEL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50AF3A8-6ACE-4D92-8B23-AE537C0E1FE7}"/>
              </a:ext>
            </a:extLst>
          </p:cNvPr>
          <p:cNvSpPr txBox="1"/>
          <p:nvPr/>
        </p:nvSpPr>
        <p:spPr>
          <a:xfrm>
            <a:off x="1028700" y="2047875"/>
            <a:ext cx="3467100" cy="3810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• Lint (ESLint)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• Tests unitaires, intégration, E2E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• Packaging + smoke test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• Build &amp; test Docker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• Publication image + déploiement</a:t>
            </a:r>
          </a:p>
          <a:p>
            <a:pPr algn="l">
              <a:lnSpc>
                <a:spcPct val="125000"/>
              </a:lnSpc>
            </a:pPr>
            <a:r>
              <a:rPr sz="1400" i="1">
                <a:solidFill>
                  <a:srgbClr val="F59E0B"/>
                </a:solidFill>
                <a:latin typeface="Segoe UI"/>
                <a:ea typeface="Segoe UI"/>
              </a:rPr>
              <a:t>100 % fonctionnel, 0 % bloquant sur la sécurité.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98341A1-5494-4B51-A7D9-2E6A8D7D9429}"/>
              </a:ext>
            </a:extLst>
          </p:cNvPr>
          <p:cNvSpPr/>
          <p:nvPr/>
        </p:nvSpPr>
        <p:spPr>
          <a:xfrm>
            <a:off x="4953000" y="1381125"/>
            <a:ext cx="6572250" cy="476250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2AACCE5-03E2-40D4-9930-C2A4EE23A087}"/>
              </a:ext>
            </a:extLst>
          </p:cNvPr>
          <p:cNvSpPr txBox="1"/>
          <p:nvPr/>
        </p:nvSpPr>
        <p:spPr>
          <a:xfrm>
            <a:off x="5219700" y="1638300"/>
            <a:ext cx="5715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7 FAIBLESSES DE SÉCURITÉ IDENTIFIÉES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046DB4F-2F9A-4CEB-A6DE-279C6F4EA01C}"/>
              </a:ext>
            </a:extLst>
          </p:cNvPr>
          <p:cNvSpPr txBox="1"/>
          <p:nvPr/>
        </p:nvSpPr>
        <p:spPr>
          <a:xfrm>
            <a:off x="5219700" y="2019300"/>
            <a:ext cx="6038850" cy="3905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W1 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Scans de sécurité manuels : rien ne tourne à chaque push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W2 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Aucune gate de sécurité entre build et déploiement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W3 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Le SAST (CodeQL) existe mais ne bloque jamais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W4 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Le DAST (ZAP) tourne après déploiement, règles désactivées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W5 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Pas de shift-left local : ni pre-commit, ni règles IDE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W6 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Scans dispersés &amp; redondants, versions d'actions incohérentes</a:t>
            </a:r>
          </a:p>
          <a:p>
            <a:pPr algn="l">
              <a:lnSpc>
                <a:spcPct val="118000"/>
              </a:lnSpc>
            </a:pPr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W7 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Image Docker poussée sans scan de vulnérabilité bloquant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974ECE8-C954-4F0D-A9DA-2C5F6F5FC61B}"/>
              </a:ext>
            </a:extLst>
          </p:cNvPr>
          <p:cNvSpPr/>
          <p:nvPr/>
        </p:nvSpPr>
        <p:spPr>
          <a:xfrm>
            <a:off x="762000" y="495300"/>
            <a:ext cx="323850" cy="323850"/>
          </a:xfrm>
          <a:prstGeom prst="hexagon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BDD0E9F-4959-425B-AA65-8E6A29730213}"/>
              </a:ext>
            </a:extLst>
          </p:cNvPr>
          <p:cNvSpPr txBox="1"/>
          <p:nvPr/>
        </p:nvSpPr>
        <p:spPr>
          <a:xfrm>
            <a:off x="1219200" y="409575"/>
            <a:ext cx="10668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  <a:ea typeface="Segoe UI"/>
              </a:rPr>
              <a:t>Approche en 3 phases, du développeur à la production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479C52F-DB19-4E44-9430-95127DCBEDF4}"/>
              </a:ext>
            </a:extLst>
          </p:cNvPr>
          <p:cNvSpPr/>
          <p:nvPr/>
        </p:nvSpPr>
        <p:spPr>
          <a:xfrm>
            <a:off x="762000" y="1714500"/>
            <a:ext cx="3333750" cy="31432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9BF19EF-4152-43F6-8441-922411AF0802}"/>
              </a:ext>
            </a:extLst>
          </p:cNvPr>
          <p:cNvSpPr/>
          <p:nvPr/>
        </p:nvSpPr>
        <p:spPr>
          <a:xfrm>
            <a:off x="1028700" y="1981200"/>
            <a:ext cx="438150" cy="438150"/>
          </a:xfrm>
          <a:prstGeom prst="hexagon">
            <a:avLst/>
          </a:prstGeom>
          <a:solidFill>
            <a:srgbClr val="2DD4BF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F1B2D"/>
                </a:solidFill>
                <a:latin typeface="Segoe UI"/>
                <a:ea typeface="Segoe UI"/>
              </a:rPr>
              <a:t>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2B9503-1118-476F-BABB-A8B110F39DF6}"/>
              </a:ext>
            </a:extLst>
          </p:cNvPr>
          <p:cNvSpPr txBox="1"/>
          <p:nvPr/>
        </p:nvSpPr>
        <p:spPr>
          <a:xfrm>
            <a:off x="1028700" y="2552700"/>
            <a:ext cx="2857500" cy="381000"/>
          </a:xfrm>
        </p:spPr>
        <p:txBody>
          <a:bodyPr wrap="square" rtlCol="0" lIns="0" tIns="0" rIns="0" bIns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Segoe UI"/>
              </a:rPr>
              <a:t>Shift-left local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944F3CA-B0AA-4CD7-84A1-FF7CA81D3414}"/>
              </a:ext>
            </a:extLst>
          </p:cNvPr>
          <p:cNvSpPr txBox="1"/>
          <p:nvPr/>
        </p:nvSpPr>
        <p:spPr>
          <a:xfrm>
            <a:off x="1028700" y="2971800"/>
            <a:ext cx="280035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IDE sécurisé (SonarLint, ESLint, Semgrep) + pre-commit hooks. Détection en temps réel et blocage au commit, avant même de pousser.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7364C26-F1D8-4513-A1AB-83D8336BEC50}"/>
              </a:ext>
            </a:extLst>
          </p:cNvPr>
          <p:cNvSpPr/>
          <p:nvPr/>
        </p:nvSpPr>
        <p:spPr>
          <a:xfrm>
            <a:off x="4133850" y="3095625"/>
            <a:ext cx="304800" cy="381000"/>
          </a:xfrm>
          <a:prstGeom prst="rightArrow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7A8BEAB-79FC-4F40-9618-3984C2025D8A}"/>
              </a:ext>
            </a:extLst>
          </p:cNvPr>
          <p:cNvSpPr/>
          <p:nvPr/>
        </p:nvSpPr>
        <p:spPr>
          <a:xfrm>
            <a:off x="4476750" y="1714500"/>
            <a:ext cx="3333750" cy="31432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BB067FF-0493-4689-A174-4E229FD78B11}"/>
              </a:ext>
            </a:extLst>
          </p:cNvPr>
          <p:cNvSpPr/>
          <p:nvPr/>
        </p:nvSpPr>
        <p:spPr>
          <a:xfrm>
            <a:off x="4743450" y="1981200"/>
            <a:ext cx="438150" cy="438150"/>
          </a:xfrm>
          <a:prstGeom prst="hexagon">
            <a:avLst/>
          </a:prstGeom>
          <a:solidFill>
            <a:srgbClr val="2DD4BF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F1B2D"/>
                </a:solidFill>
                <a:latin typeface="Segoe UI"/>
                <a:ea typeface="Segoe UI"/>
              </a:rPr>
              <a:t>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D2992F6-E152-465D-89B7-A50BD7CE7226}"/>
              </a:ext>
            </a:extLst>
          </p:cNvPr>
          <p:cNvSpPr txBox="1"/>
          <p:nvPr/>
        </p:nvSpPr>
        <p:spPr>
          <a:xfrm>
            <a:off x="4743450" y="2552700"/>
            <a:ext cx="2857500" cy="381000"/>
          </a:xfrm>
        </p:spPr>
        <p:txBody>
          <a:bodyPr wrap="square" rtlCol="0" lIns="0" tIns="0" rIns="0" bIns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Segoe UI"/>
              </a:rPr>
              <a:t>Contrôles pipeline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46E2116-724D-479C-8D0D-A949081A963B}"/>
              </a:ext>
            </a:extLst>
          </p:cNvPr>
          <p:cNvSpPr txBox="1"/>
          <p:nvPr/>
        </p:nvSpPr>
        <p:spPr>
          <a:xfrm>
            <a:off x="4743450" y="2971800"/>
            <a:ext cx="280035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Un job par contrôle (secrets, SAST, SCA, image, DAST, IaC, SBOM) exécuté automatiquement à chaque push et pull request.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5385FD72-D405-413C-A384-EB3DD45E4272}"/>
              </a:ext>
            </a:extLst>
          </p:cNvPr>
          <p:cNvSpPr/>
          <p:nvPr/>
        </p:nvSpPr>
        <p:spPr>
          <a:xfrm>
            <a:off x="7848600" y="3095625"/>
            <a:ext cx="304800" cy="381000"/>
          </a:xfrm>
          <a:prstGeom prst="rightArrow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6D127F3-2DC4-420B-827B-1341E47FC1EC}"/>
              </a:ext>
            </a:extLst>
          </p:cNvPr>
          <p:cNvSpPr/>
          <p:nvPr/>
        </p:nvSpPr>
        <p:spPr>
          <a:xfrm>
            <a:off x="8191500" y="1714500"/>
            <a:ext cx="3333750" cy="31432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E6BDECC-4975-40DB-8702-A4474A92AAC9}"/>
              </a:ext>
            </a:extLst>
          </p:cNvPr>
          <p:cNvSpPr/>
          <p:nvPr/>
        </p:nvSpPr>
        <p:spPr>
          <a:xfrm>
            <a:off x="8458200" y="1981200"/>
            <a:ext cx="438150" cy="438150"/>
          </a:xfrm>
          <a:prstGeom prst="hexagon">
            <a:avLst/>
          </a:prstGeom>
          <a:solidFill>
            <a:srgbClr val="2DD4BF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F1B2D"/>
                </a:solidFill>
                <a:latin typeface="Segoe UI"/>
                <a:ea typeface="Segoe UI"/>
              </a:rPr>
              <a:t>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0FCC862-0172-4439-B650-8C6CF3CEC83E}"/>
              </a:ext>
            </a:extLst>
          </p:cNvPr>
          <p:cNvSpPr txBox="1"/>
          <p:nvPr/>
        </p:nvSpPr>
        <p:spPr>
          <a:xfrm>
            <a:off x="8458200" y="2552700"/>
            <a:ext cx="2857500" cy="381000"/>
          </a:xfrm>
        </p:spPr>
        <p:txBody>
          <a:bodyPr wrap="square" rtlCol="0" lIns="0" tIns="0" rIns="0" bIns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Segoe UI"/>
              </a:rPr>
              <a:t>Décision &amp; déploiement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F2BF046-259C-4F49-A77F-9F98E2DDD937}"/>
              </a:ext>
            </a:extLst>
          </p:cNvPr>
          <p:cNvSpPr txBox="1"/>
          <p:nvPr/>
        </p:nvSpPr>
        <p:spPr>
          <a:xfrm>
            <a:off x="8458200" y="2971800"/>
            <a:ext cx="280035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Un quality gate unique agrège les rapports, décide, notifie et atteste. Le deploy promeut l'image déjà scannée (même digest).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1385483D-6C9E-44F6-BB76-8A665BB55619}"/>
              </a:ext>
            </a:extLst>
          </p:cNvPr>
          <p:cNvSpPr/>
          <p:nvPr/>
        </p:nvSpPr>
        <p:spPr>
          <a:xfrm>
            <a:off x="762000" y="5191125"/>
            <a:ext cx="10763250" cy="83820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1945208-AB58-4496-B576-33BAA561F9F6}"/>
              </a:ext>
            </a:extLst>
          </p:cNvPr>
          <p:cNvSpPr txBox="1"/>
          <p:nvPr/>
        </p:nvSpPr>
        <p:spPr>
          <a:xfrm>
            <a:off x="1028700" y="5324475"/>
            <a:ext cx="10229850" cy="5715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DD4BF"/>
                </a:solidFill>
                <a:latin typeface="Segoe UI"/>
                <a:ea typeface="Segoe UI"/>
              </a:rPr>
              <a:t>Notion clé — tag baseline :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Juice Shop est volontairement vulnérable. On distingue les failles déjà présentes à l'import des nouvelles régressions : le pipeline bloque sur le nouveau, sans être paralysé par le bruit de fond.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9FECA37-CB0F-44E6-A5ED-AEF9336BCA7D}"/>
              </a:ext>
            </a:extLst>
          </p:cNvPr>
          <p:cNvSpPr/>
          <p:nvPr/>
        </p:nvSpPr>
        <p:spPr>
          <a:xfrm>
            <a:off x="762000" y="495300"/>
            <a:ext cx="323850" cy="323850"/>
          </a:xfrm>
          <a:prstGeom prst="hexagon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152E518-5F41-429F-884A-29EF46C8F85D}"/>
              </a:ext>
            </a:extLst>
          </p:cNvPr>
          <p:cNvSpPr txBox="1"/>
          <p:nvPr/>
        </p:nvSpPr>
        <p:spPr>
          <a:xfrm>
            <a:off x="1219200" y="409575"/>
            <a:ext cx="104775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  <a:ea typeface="Segoe UI"/>
              </a:rPr>
              <a:t>Outils choisis &amp; justification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6D8A9CF-EB3C-4C43-B04E-812264BAA51B}"/>
              </a:ext>
            </a:extLst>
          </p:cNvPr>
          <p:cNvSpPr/>
          <p:nvPr/>
        </p:nvSpPr>
        <p:spPr>
          <a:xfrm>
            <a:off x="762000" y="1381125"/>
            <a:ext cx="3429000" cy="48577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B78D150-F932-4161-B013-A030208CD566}"/>
              </a:ext>
            </a:extLst>
          </p:cNvPr>
          <p:cNvSpPr txBox="1"/>
          <p:nvPr/>
        </p:nvSpPr>
        <p:spPr>
          <a:xfrm>
            <a:off x="1028700" y="1619250"/>
            <a:ext cx="28575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  <a:ea typeface="Segoe UI"/>
              </a:rPr>
              <a:t>CODE &amp; SECRETS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55E893F-54A9-4DEE-A11C-6A38FB196C77}"/>
              </a:ext>
            </a:extLst>
          </p:cNvPr>
          <p:cNvSpPr txBox="1"/>
          <p:nvPr/>
        </p:nvSpPr>
        <p:spPr>
          <a:xfrm>
            <a:off x="1028700" y="2000250"/>
            <a:ext cx="2895600" cy="409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Gitleaks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00">
                <a:solidFill>
                  <a:srgbClr val="9FB3C8"/>
                </a:solidFill>
                <a:latin typeface="Segoe UI"/>
                <a:ea typeface="Segoe UI"/>
              </a:rPr>
              <a:t>secrets dans tout l'historique, hook officiel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Semgrep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00">
                <a:solidFill>
                  <a:srgbClr val="9FB3C8"/>
                </a:solidFill>
                <a:latin typeface="Segoe UI"/>
                <a:ea typeface="Segoe UI"/>
              </a:rPr>
              <a:t>SAST multi-langage, mode baseline (diff), même moteur local/CI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Bandit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00">
                <a:solidFill>
                  <a:srgbClr val="9FB3C8"/>
                </a:solidFill>
                <a:latin typeface="Segoe UI"/>
                <a:ea typeface="Segoe UI"/>
              </a:rPr>
              <a:t>SAST Python sur nos scripts de pipeline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ESLint security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9FB3C8"/>
                </a:solidFill>
                <a:latin typeface="Segoe UI"/>
                <a:ea typeface="Segoe UI"/>
              </a:rPr>
              <a:t>règles JS temps réel (eval, child_process…)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D861F26-80A5-446F-BC38-93167B28458F}"/>
              </a:ext>
            </a:extLst>
          </p:cNvPr>
          <p:cNvSpPr/>
          <p:nvPr/>
        </p:nvSpPr>
        <p:spPr>
          <a:xfrm>
            <a:off x="4381500" y="1381125"/>
            <a:ext cx="3429000" cy="48577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2BC0978-1709-4118-B1CD-70EB5C1F40E9}"/>
              </a:ext>
            </a:extLst>
          </p:cNvPr>
          <p:cNvSpPr txBox="1"/>
          <p:nvPr/>
        </p:nvSpPr>
        <p:spPr>
          <a:xfrm>
            <a:off x="4648200" y="1619250"/>
            <a:ext cx="28575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  <a:ea typeface="Segoe UI"/>
              </a:rPr>
              <a:t>DÉPENDANCES &amp; CONTENEUR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140EF25-57FB-43C9-B833-29BF7D21B26B}"/>
              </a:ext>
            </a:extLst>
          </p:cNvPr>
          <p:cNvSpPr txBox="1"/>
          <p:nvPr/>
        </p:nvSpPr>
        <p:spPr>
          <a:xfrm>
            <a:off x="4648200" y="2000250"/>
            <a:ext cx="2895600" cy="409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Trivy fs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00">
                <a:solidFill>
                  <a:srgbClr val="9FB3C8"/>
                </a:solidFill>
                <a:latin typeface="Segoe UI"/>
                <a:ea typeface="Segoe UI"/>
              </a:rPr>
              <a:t>SCA : vulnérabilités des dépendances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Trivy image + SBOM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00">
                <a:solidFill>
                  <a:srgbClr val="9FB3C8"/>
                </a:solidFill>
                <a:latin typeface="Segoe UI"/>
                <a:ea typeface="Segoe UI"/>
              </a:rPr>
              <a:t>scan du conteneur + inventaire CycloneDX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npm audit + Retire.js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300">
                <a:solidFill>
                  <a:srgbClr val="9FB3C8"/>
                </a:solidFill>
                <a:latin typeface="Segoe UI"/>
                <a:ea typeface="Segoe UI"/>
              </a:rPr>
              <a:t>complément côté JavaScript/front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Versions épinglées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9FB3C8"/>
                </a:solidFill>
                <a:latin typeface="Segoe UI"/>
                <a:ea typeface="Segoe UI"/>
              </a:rPr>
              <a:t>Trivy 0.74.0, Gitleaks 8.30.1… résultats stables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074CB8E-DC5C-4D82-B165-3CB6610C46A1}"/>
              </a:ext>
            </a:extLst>
          </p:cNvPr>
          <p:cNvSpPr/>
          <p:nvPr/>
        </p:nvSpPr>
        <p:spPr>
          <a:xfrm>
            <a:off x="8001000" y="1381125"/>
            <a:ext cx="3429000" cy="48577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9D504EB-118C-4FA7-9AFE-6C2136FD0CCE}"/>
              </a:ext>
            </a:extLst>
          </p:cNvPr>
          <p:cNvSpPr txBox="1"/>
          <p:nvPr/>
        </p:nvSpPr>
        <p:spPr>
          <a:xfrm>
            <a:off x="8267700" y="1619250"/>
            <a:ext cx="28575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  <a:ea typeface="Segoe UI"/>
              </a:rPr>
              <a:t>DYNAMIQUE, IaC &amp; PILOTAGE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D0A1DCA-D4F6-4807-92FA-8BF9CFA8E627}"/>
              </a:ext>
            </a:extLst>
          </p:cNvPr>
          <p:cNvSpPr txBox="1"/>
          <p:nvPr/>
        </p:nvSpPr>
        <p:spPr>
          <a:xfrm>
            <a:off x="8267700" y="2000250"/>
            <a:ext cx="2895600" cy="409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OWASP ZAP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>
                <a:solidFill>
                  <a:srgbClr val="9FB3C8"/>
                </a:solidFill>
                <a:latin typeface="Segoe UI"/>
                <a:ea typeface="Segoe UI"/>
              </a:rPr>
              <a:t>DAST baseline sur le conteneur réel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Checkov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>
                <a:solidFill>
                  <a:srgbClr val="9FB3C8"/>
                </a:solidFill>
                <a:latin typeface="Segoe UI"/>
                <a:ea typeface="Segoe UI"/>
              </a:rPr>
              <a:t>IaC : Dockerfile, Terraform et nos propres workflows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Gauntlt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>
                <a:solidFill>
                  <a:srgbClr val="9FB3C8"/>
                </a:solidFill>
                <a:latin typeface="Segoe UI"/>
                <a:ea typeface="Segoe UI"/>
              </a:rPr>
              <a:t>tests d'acceptation sécurité (nmap, curl)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SonarQube Cloud</a:t>
            </a:r>
          </a:p>
          <a:p>
            <a:pPr algn="l">
              <a:lnSpc>
                <a:spcPct val="118000"/>
              </a:lnSpc>
            </a:pPr>
            <a:r>
              <a:rPr sz="1300">
                <a:solidFill>
                  <a:srgbClr val="9FB3C8"/>
                </a:solidFill>
                <a:latin typeface="Segoe UI"/>
                <a:ea typeface="Segoe UI"/>
              </a:rPr>
              <a:t>vue centrale + historique (tendance)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7BC69B7-92F3-42A0-B5FC-5CF1C8602557}"/>
              </a:ext>
            </a:extLst>
          </p:cNvPr>
          <p:cNvSpPr/>
          <p:nvPr/>
        </p:nvSpPr>
        <p:spPr>
          <a:xfrm>
            <a:off x="762000" y="495300"/>
            <a:ext cx="323850" cy="323850"/>
          </a:xfrm>
          <a:prstGeom prst="hexagon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11C2C6C-308A-4E29-8CCB-0A90A7D1F230}"/>
              </a:ext>
            </a:extLst>
          </p:cNvPr>
          <p:cNvSpPr txBox="1"/>
          <p:nvPr/>
        </p:nvSpPr>
        <p:spPr>
          <a:xfrm>
            <a:off x="1219200" y="409575"/>
            <a:ext cx="104775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  <a:ea typeface="Segoe UI"/>
              </a:rPr>
              <a:t>Pipeline final : avant / après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F215C6F-E238-43D6-ABEF-9F40D52F42FD}"/>
              </a:ext>
            </a:extLst>
          </p:cNvPr>
          <p:cNvSpPr/>
          <p:nvPr/>
        </p:nvSpPr>
        <p:spPr>
          <a:xfrm>
            <a:off x="762000" y="1314450"/>
            <a:ext cx="5191125" cy="285750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260F4D2-963D-4822-9E0F-04BAA1411809}"/>
              </a:ext>
            </a:extLst>
          </p:cNvPr>
          <p:cNvSpPr txBox="1"/>
          <p:nvPr/>
        </p:nvSpPr>
        <p:spPr>
          <a:xfrm>
            <a:off x="1028700" y="1543050"/>
            <a:ext cx="4572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AVANT — DISPERSÉ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63FD6B0-31D1-40B5-B77A-6038D328AA8A}"/>
              </a:ext>
            </a:extLst>
          </p:cNvPr>
          <p:cNvSpPr txBox="1"/>
          <p:nvPr/>
        </p:nvSpPr>
        <p:spPr>
          <a:xfrm>
            <a:off x="1028700" y="1905000"/>
            <a:ext cx="4657725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~20 workflows en parallèle (doublons)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Scans de sécurité manuels uniquement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Build dupliqué : ci.yml + job checks + image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Aucune décision de sécurité commune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Déploiement jamais déclenché (ciblait master)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F464626-595B-4492-B0DF-01EA677A2F33}"/>
              </a:ext>
            </a:extLst>
          </p:cNvPr>
          <p:cNvSpPr/>
          <p:nvPr/>
        </p:nvSpPr>
        <p:spPr>
          <a:xfrm>
            <a:off x="6238875" y="1314450"/>
            <a:ext cx="5191125" cy="285750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D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681DF64-FDF7-4675-9D0D-1CE3DE2F5719}"/>
              </a:ext>
            </a:extLst>
          </p:cNvPr>
          <p:cNvSpPr txBox="1"/>
          <p:nvPr/>
        </p:nvSpPr>
        <p:spPr>
          <a:xfrm>
            <a:off x="6505575" y="1543050"/>
            <a:ext cx="4572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  <a:ea typeface="Segoe UI"/>
              </a:rPr>
              <a:t>APRÈS — CONSOLIDÉ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5317AEC-94D4-4E73-94D2-D70E933C6E27}"/>
              </a:ext>
            </a:extLst>
          </p:cNvPr>
          <p:cNvSpPr txBox="1"/>
          <p:nvPr/>
        </p:nvSpPr>
        <p:spPr>
          <a:xfrm>
            <a:off x="6505575" y="1905000"/>
            <a:ext cx="4657725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1 seul workflow : devsecops.yml (+1 utilitaire)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Tout automatique à chaque push / PR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Build unique, en parallèle des scans source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Quality gate = décision unique et traçable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Deploy promeut le digest scanné, sur main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A09EEA0-BEC5-4F01-BB7B-97DCE45BB01E}"/>
              </a:ext>
            </a:extLst>
          </p:cNvPr>
          <p:cNvSpPr txBox="1"/>
          <p:nvPr/>
        </p:nvSpPr>
        <p:spPr>
          <a:xfrm>
            <a:off x="762000" y="4476750"/>
            <a:ext cx="85725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300" b="1">
                <a:solidFill>
                  <a:srgbClr val="9FB3C8"/>
                </a:solidFill>
                <a:latin typeface="Segoe UI"/>
                <a:ea typeface="Segoe UI"/>
              </a:rPr>
              <a:t>ENCHAÎNEMENT DU PIPELINE — « BUILD ONCE, PROMOTE »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5DA6D0D-4B81-49EA-ABBC-0622236B5940}"/>
              </a:ext>
            </a:extLst>
          </p:cNvPr>
          <p:cNvSpPr/>
          <p:nvPr/>
        </p:nvSpPr>
        <p:spPr>
          <a:xfrm>
            <a:off x="857250" y="4810125"/>
            <a:ext cx="1666875" cy="59055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24344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>
                <a:solidFill>
                  <a:srgbClr val="E8EEF7"/>
                </a:solidFill>
                <a:latin typeface="Segoe UI"/>
                <a:ea typeface="Segoe UI"/>
              </a:rPr>
              <a:t>Scans source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1EFDEE8-0465-426D-9342-5868818C0347}"/>
              </a:ext>
            </a:extLst>
          </p:cNvPr>
          <p:cNvSpPr/>
          <p:nvPr/>
        </p:nvSpPr>
        <p:spPr>
          <a:xfrm>
            <a:off x="2590800" y="4914900"/>
            <a:ext cx="285750" cy="381000"/>
          </a:xfrm>
          <a:prstGeom prst="rightArrow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21DA9D6-E762-4838-ACC9-A155A068D044}"/>
              </a:ext>
            </a:extLst>
          </p:cNvPr>
          <p:cNvSpPr/>
          <p:nvPr/>
        </p:nvSpPr>
        <p:spPr>
          <a:xfrm>
            <a:off x="2933700" y="4810125"/>
            <a:ext cx="1666875" cy="59055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2DD4B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  <a:ea typeface="Segoe UI"/>
              </a:rPr>
              <a:t>build (image)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476CD60-806B-4C6C-A672-3DEC40CCC132}"/>
              </a:ext>
            </a:extLst>
          </p:cNvPr>
          <p:cNvSpPr/>
          <p:nvPr/>
        </p:nvSpPr>
        <p:spPr>
          <a:xfrm>
            <a:off x="4667250" y="4914900"/>
            <a:ext cx="285750" cy="381000"/>
          </a:xfrm>
          <a:prstGeom prst="rightArrow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A560547D-826B-4D0D-837C-E01CC52313B6}"/>
              </a:ext>
            </a:extLst>
          </p:cNvPr>
          <p:cNvSpPr/>
          <p:nvPr/>
        </p:nvSpPr>
        <p:spPr>
          <a:xfrm>
            <a:off x="5010150" y="4810125"/>
            <a:ext cx="1666875" cy="59055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24344D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>
                <a:solidFill>
                  <a:srgbClr val="E8EEF7"/>
                </a:solidFill>
                <a:latin typeface="Segoe UI"/>
                <a:ea typeface="Segoe UI"/>
              </a:rPr>
              <a:t>Scans image/DAST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9C23FDAF-4011-4FE3-920A-3CE6C80F962B}"/>
              </a:ext>
            </a:extLst>
          </p:cNvPr>
          <p:cNvSpPr/>
          <p:nvPr/>
        </p:nvSpPr>
        <p:spPr>
          <a:xfrm>
            <a:off x="6743700" y="4914900"/>
            <a:ext cx="285750" cy="381000"/>
          </a:xfrm>
          <a:prstGeom prst="rightArrow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C053EAE-8CE4-409C-8991-D818E4D80369}"/>
              </a:ext>
            </a:extLst>
          </p:cNvPr>
          <p:cNvSpPr/>
          <p:nvPr/>
        </p:nvSpPr>
        <p:spPr>
          <a:xfrm>
            <a:off x="7086600" y="4810125"/>
            <a:ext cx="1666875" cy="59055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F59E0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  <a:ea typeface="Segoe UI"/>
              </a:rPr>
              <a:t>quality_gate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C1ADF9A6-CCAE-4D36-BF51-2A4B198B3A94}"/>
              </a:ext>
            </a:extLst>
          </p:cNvPr>
          <p:cNvSpPr/>
          <p:nvPr/>
        </p:nvSpPr>
        <p:spPr>
          <a:xfrm>
            <a:off x="8820150" y="4914900"/>
            <a:ext cx="285750" cy="381000"/>
          </a:xfrm>
          <a:prstGeom prst="rightArrow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70CA93A6-9E66-4165-9169-1F5E7779E703}"/>
              </a:ext>
            </a:extLst>
          </p:cNvPr>
          <p:cNvSpPr/>
          <p:nvPr/>
        </p:nvSpPr>
        <p:spPr>
          <a:xfrm>
            <a:off x="9163050" y="4810125"/>
            <a:ext cx="1666875" cy="59055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2DD4B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2DD4BF"/>
                </a:solidFill>
                <a:latin typeface="Segoe UI"/>
                <a:ea typeface="Segoe UI"/>
              </a:rPr>
              <a:t>deploy (main)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F991F5F-3BC4-483A-8BA9-BCACAA396454}"/>
              </a:ext>
            </a:extLst>
          </p:cNvPr>
          <p:cNvSpPr/>
          <p:nvPr/>
        </p:nvSpPr>
        <p:spPr>
          <a:xfrm>
            <a:off x="762000" y="495300"/>
            <a:ext cx="323850" cy="323850"/>
          </a:xfrm>
          <a:prstGeom prst="hexagon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5EE3875-6D53-46D3-ACF9-55EFEA26AFA7}"/>
              </a:ext>
            </a:extLst>
          </p:cNvPr>
          <p:cNvSpPr txBox="1"/>
          <p:nvPr/>
        </p:nvSpPr>
        <p:spPr>
          <a:xfrm>
            <a:off x="1219200" y="409575"/>
            <a:ext cx="10668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  <a:ea typeface="Segoe UI"/>
              </a:rPr>
              <a:t>Quality gates : bloquant vs non bloquant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44B7A82-DCCA-4551-B50B-9BCB636D6D21}"/>
              </a:ext>
            </a:extLst>
          </p:cNvPr>
          <p:cNvSpPr/>
          <p:nvPr/>
        </p:nvSpPr>
        <p:spPr>
          <a:xfrm>
            <a:off x="762000" y="1333500"/>
            <a:ext cx="5191125" cy="18097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928766E-2B10-4FE2-A0D1-08C86CA1F5F7}"/>
              </a:ext>
            </a:extLst>
          </p:cNvPr>
          <p:cNvSpPr txBox="1"/>
          <p:nvPr/>
        </p:nvSpPr>
        <p:spPr>
          <a:xfrm>
            <a:off x="1009650" y="1543050"/>
            <a:ext cx="4572000" cy="26670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BLOQUANTS PAR EUX-MÊMES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9A3606B-6EEC-43F6-BBDC-63651A8B7766}"/>
              </a:ext>
            </a:extLst>
          </p:cNvPr>
          <p:cNvSpPr txBox="1"/>
          <p:nvPr/>
        </p:nvSpPr>
        <p:spPr>
          <a:xfrm>
            <a:off x="1009650" y="1866900"/>
            <a:ext cx="4695825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secrets_scan (Gitleaks) et sast (Semgrep) : toute NOUVELLE alerte depuis le tag baseline fait échouer le run à elle seule.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8BC3642-F127-4EDB-B464-2015E6E3DF5A}"/>
              </a:ext>
            </a:extLst>
          </p:cNvPr>
          <p:cNvSpPr/>
          <p:nvPr/>
        </p:nvSpPr>
        <p:spPr>
          <a:xfrm>
            <a:off x="6238875" y="1333500"/>
            <a:ext cx="5191125" cy="18097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D8C1F98-5E81-42E2-AD96-6924D962E2F8}"/>
              </a:ext>
            </a:extLst>
          </p:cNvPr>
          <p:cNvSpPr txBox="1"/>
          <p:nvPr/>
        </p:nvSpPr>
        <p:spPr>
          <a:xfrm>
            <a:off x="6486525" y="1543050"/>
            <a:ext cx="4762500" cy="26670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SEUILS DE SÉVERITÉ (Trivy fs/image, ZAP)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BAB0EC3-52C2-4D3B-BF25-8600B1293742}"/>
              </a:ext>
            </a:extLst>
          </p:cNvPr>
          <p:cNvSpPr txBox="1"/>
          <p:nvPr/>
        </p:nvSpPr>
        <p:spPr>
          <a:xfrm>
            <a:off x="6486525" y="1828800"/>
            <a:ext cx="4762500" cy="666750"/>
          </a:xfrm>
        </p:spPr>
        <p:txBody>
          <a:bodyPr wrap="square" rtlCol="0" lIns="0" tIns="0" rIns="0" bIns="0" anchor="ctr"/>
          <a:lstStyle/>
          <a:p>
            <a:pPr algn="l"/>
            <a:r>
              <a:rPr sz="4400" b="1">
                <a:solidFill>
                  <a:srgbClr val="F59E0B"/>
                </a:solidFill>
                <a:latin typeface="Segoe UI"/>
                <a:ea typeface="Segoe UI"/>
              </a:rPr>
              <a:t>1 </a:t>
            </a:r>
            <a:r>
              <a:rPr sz="1500">
                <a:solidFill>
                  <a:srgbClr val="9FB3C8"/>
                </a:solidFill>
                <a:latin typeface="Segoe UI"/>
                <a:ea typeface="Segoe UI"/>
              </a:rPr>
              <a:t>critique      </a:t>
            </a:r>
            <a:r>
              <a:rPr sz="4400" b="1">
                <a:solidFill>
                  <a:srgbClr val="F59E0B"/>
                </a:solidFill>
                <a:latin typeface="Segoe UI"/>
                <a:ea typeface="Segoe UI"/>
              </a:rPr>
              <a:t>5 </a:t>
            </a:r>
            <a:r>
              <a:rPr sz="1500">
                <a:solidFill>
                  <a:srgbClr val="9FB3C8"/>
                </a:solidFill>
                <a:latin typeface="Segoe UI"/>
                <a:ea typeface="Segoe UI"/>
              </a:rPr>
              <a:t>hautes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5048F17-0AEE-41DF-9CA4-C0D6D9ADA8D2}"/>
              </a:ext>
            </a:extLst>
          </p:cNvPr>
          <p:cNvSpPr txBox="1"/>
          <p:nvPr/>
        </p:nvSpPr>
        <p:spPr>
          <a:xfrm>
            <a:off x="6486525" y="2495550"/>
            <a:ext cx="4695825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</a:pPr>
            <a:r>
              <a:rPr sz="1300">
                <a:solidFill>
                  <a:srgbClr val="E8EEF7"/>
                </a:solidFill>
                <a:latin typeface="Segoe UI"/>
                <a:ea typeface="Segoe UI"/>
              </a:rPr>
              <a:t>≥1 critique OU ≥5 hautes non acceptées = build bloqué.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52057EC-7FDC-4C3B-933B-01C5441FB94D}"/>
              </a:ext>
            </a:extLst>
          </p:cNvPr>
          <p:cNvSpPr/>
          <p:nvPr/>
        </p:nvSpPr>
        <p:spPr>
          <a:xfrm>
            <a:off x="762000" y="3286125"/>
            <a:ext cx="5191125" cy="18097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BC12317-37FB-42A5-ADA3-85AFB0AFCAB8}"/>
              </a:ext>
            </a:extLst>
          </p:cNvPr>
          <p:cNvSpPr txBox="1"/>
          <p:nvPr/>
        </p:nvSpPr>
        <p:spPr>
          <a:xfrm>
            <a:off x="1009650" y="3495675"/>
            <a:ext cx="4762500" cy="26670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CONTRÔLES STRICTS (IaC, acceptation)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AF65047-4C59-4CE0-947A-6CCA500B4A18}"/>
              </a:ext>
            </a:extLst>
          </p:cNvPr>
          <p:cNvSpPr txBox="1"/>
          <p:nvPr/>
        </p:nvSpPr>
        <p:spPr>
          <a:xfrm>
            <a:off x="1009650" y="3819525"/>
            <a:ext cx="4695825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Checkov (Dockerfile, Terraform, workflows) et Gauntlt : toute alerte non acceptée bloque. Les sévérités faibles/moyennes restent en reporting.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06426B6-7792-4CC7-8357-75743B38E981}"/>
              </a:ext>
            </a:extLst>
          </p:cNvPr>
          <p:cNvSpPr/>
          <p:nvPr/>
        </p:nvSpPr>
        <p:spPr>
          <a:xfrm>
            <a:off x="6238875" y="3286125"/>
            <a:ext cx="5191125" cy="18097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E70F673-49CE-4F06-AACD-36C8237B8E6D}"/>
              </a:ext>
            </a:extLst>
          </p:cNvPr>
          <p:cNvSpPr txBox="1"/>
          <p:nvPr/>
        </p:nvSpPr>
        <p:spPr>
          <a:xfrm>
            <a:off x="6486525" y="3495675"/>
            <a:ext cx="4762500" cy="26670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  <a:ea typeface="Segoe UI"/>
              </a:rPr>
              <a:t>NON BLOQUANT (reporting)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E54B6C4-9232-4D64-B191-DAE8776DEDEA}"/>
              </a:ext>
            </a:extLst>
          </p:cNvPr>
          <p:cNvSpPr txBox="1"/>
          <p:nvPr/>
        </p:nvSpPr>
        <p:spPr>
          <a:xfrm>
            <a:off x="6486525" y="3819525"/>
            <a:ext cx="4695825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SonarQube Cloud et notifications : centralisation, historique et alerte uniquement. Ces intégrations facultatives ne décident rien.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57E3FED-2CCA-4813-8F71-6EC1852AB750}"/>
              </a:ext>
            </a:extLst>
          </p:cNvPr>
          <p:cNvSpPr/>
          <p:nvPr/>
        </p:nvSpPr>
        <p:spPr>
          <a:xfrm>
            <a:off x="762000" y="5286375"/>
            <a:ext cx="10668000" cy="83820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F59E0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93785B3-6EE7-47D5-8147-EE5D8ADBE99F}"/>
              </a:ext>
            </a:extLst>
          </p:cNvPr>
          <p:cNvSpPr txBox="1"/>
          <p:nvPr/>
        </p:nvSpPr>
        <p:spPr>
          <a:xfrm>
            <a:off x="1028700" y="5410200"/>
            <a:ext cx="10134600" cy="59055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FAIL SECURE :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un rapport manquant est traité comme bloquant — on ne déploie jamais « parce que le scan n'a pas eu le temps de tourner ». Seuils choisis pour bloquer toute criticité unitaire sans paralyser les livraisons sur le bruit de fond.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8274EB8-048C-441D-8FF4-CDC735077E6C}"/>
              </a:ext>
            </a:extLst>
          </p:cNvPr>
          <p:cNvSpPr/>
          <p:nvPr/>
        </p:nvSpPr>
        <p:spPr>
          <a:xfrm>
            <a:off x="762000" y="495300"/>
            <a:ext cx="323850" cy="323850"/>
          </a:xfrm>
          <a:prstGeom prst="hexagon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F02163-F434-4DCB-A0D2-C4B9BDE8F1D6}"/>
              </a:ext>
            </a:extLst>
          </p:cNvPr>
          <p:cNvSpPr txBox="1"/>
          <p:nvPr/>
        </p:nvSpPr>
        <p:spPr>
          <a:xfrm>
            <a:off x="1219200" y="409575"/>
            <a:ext cx="10668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  <a:ea typeface="Segoe UI"/>
              </a:rPr>
              <a:t>Shift-left local : détecter avant de pousser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6677599-8BCB-40E6-A6DB-D9F1985C0737}"/>
              </a:ext>
            </a:extLst>
          </p:cNvPr>
          <p:cNvSpPr/>
          <p:nvPr/>
        </p:nvSpPr>
        <p:spPr>
          <a:xfrm>
            <a:off x="762000" y="1333500"/>
            <a:ext cx="5191125" cy="3571875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69189E2-653C-4BDD-9AE0-E1E0A9D1A050}"/>
              </a:ext>
            </a:extLst>
          </p:cNvPr>
          <p:cNvSpPr txBox="1"/>
          <p:nvPr/>
        </p:nvSpPr>
        <p:spPr>
          <a:xfrm>
            <a:off x="1028700" y="1571625"/>
            <a:ext cx="47625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2DD4BF"/>
                </a:solidFill>
                <a:latin typeface="Segoe UI"/>
                <a:ea typeface="Segoe UI"/>
              </a:rPr>
              <a:t>IDE SÉCURISÉ  (.vscode/extensions.json)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A7DF9D5-E975-4223-8916-8B1E912A05B8}"/>
              </a:ext>
            </a:extLst>
          </p:cNvPr>
          <p:cNvSpPr txBox="1"/>
          <p:nvPr/>
        </p:nvSpPr>
        <p:spPr>
          <a:xfrm>
            <a:off x="1028700" y="1952625"/>
            <a:ext cx="4657725" cy="2857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SonarLint — SAST multi-langage en temps réel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ESLint + eslint-plugin-security — règles JS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Semgrep — même moteur que le pipeline</a:t>
            </a:r>
          </a:p>
          <a:p>
            <a:pPr algn="l">
              <a:lnSpc>
                <a:spcPct val="125000"/>
              </a:lnSpc>
            </a:pPr>
            <a:r>
              <a:rPr sz="1300" i="1">
                <a:solidFill>
                  <a:srgbClr val="9FB3C8"/>
                </a:solidFill>
                <a:latin typeface="Segoe UI"/>
                <a:ea typeface="Segoe UI"/>
              </a:rPr>
              <a:t>VS Code propose l'installation à l'ouverture du dépôt : chaque développeur voit la faille pendant la saisie.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2E9887C-CC80-4013-A43F-3D1BB7FBCD20}"/>
              </a:ext>
            </a:extLst>
          </p:cNvPr>
          <p:cNvSpPr/>
          <p:nvPr/>
        </p:nvSpPr>
        <p:spPr>
          <a:xfrm>
            <a:off x="6238875" y="1333500"/>
            <a:ext cx="5191125" cy="3571875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AC84AC9-47C0-4316-ACDD-1B8D776EBA87}"/>
              </a:ext>
            </a:extLst>
          </p:cNvPr>
          <p:cNvSpPr txBox="1"/>
          <p:nvPr/>
        </p:nvSpPr>
        <p:spPr>
          <a:xfrm>
            <a:off x="6505575" y="1571625"/>
            <a:ext cx="485775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2DD4BF"/>
                </a:solidFill>
                <a:latin typeface="Segoe UI"/>
                <a:ea typeface="Segoe UI"/>
              </a:rPr>
              <a:t>PRE-COMMIT HOOKS  (.pre-commit-config.yaml)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EBED6F7-2BFB-414B-93E8-A4C31C868A61}"/>
              </a:ext>
            </a:extLst>
          </p:cNvPr>
          <p:cNvSpPr txBox="1"/>
          <p:nvPr/>
        </p:nvSpPr>
        <p:spPr>
          <a:xfrm>
            <a:off x="6505575" y="1952625"/>
            <a:ext cx="4657725" cy="2857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detect-private-key + HMRC (fuites de secrets)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Gitleaks — scan des secrets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Semgrep — SAST (mêmes règles que la CI)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Bandit — SAST sur nos scripts Python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ESLint security + npm-audit (nouvelle criticité)</a:t>
            </a:r>
          </a:p>
          <a:p>
            <a:pPr algn="l">
              <a:lnSpc>
                <a:spcPct val="122000"/>
              </a:lnSpc>
            </a:pPr>
            <a:r>
              <a:rPr sz="1300" i="1">
                <a:solidFill>
                  <a:srgbClr val="9FB3C8"/>
                </a:solidFill>
                <a:latin typeface="Segoe UI"/>
                <a:ea typeface="Segoe UI"/>
              </a:rPr>
              <a:t>Bloque le commit en quelques secondes, avec explication.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C79E375-84F9-46FF-B8B2-02C495358A01}"/>
              </a:ext>
            </a:extLst>
          </p:cNvPr>
          <p:cNvSpPr/>
          <p:nvPr/>
        </p:nvSpPr>
        <p:spPr>
          <a:xfrm>
            <a:off x="762000" y="5143500"/>
            <a:ext cx="10668000" cy="78105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1AD1206-C065-48FE-B033-A00C8FCD56A6}"/>
              </a:ext>
            </a:extLst>
          </p:cNvPr>
          <p:cNvSpPr txBox="1"/>
          <p:nvPr/>
        </p:nvSpPr>
        <p:spPr>
          <a:xfrm>
            <a:off x="1028700" y="5267325"/>
            <a:ext cx="1013460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Cohérence local / CI :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git commit --no-verify contourne les hooks locaux. Chaque contrôle est donc rejoué côté serveur, avec les mêmes outils et les mêmes versions épinglées.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E04005D9-7A76-4658-ABAA-03771E676D54}"/>
              </a:ext>
            </a:extLst>
          </p:cNvPr>
          <p:cNvSpPr/>
          <p:nvPr/>
        </p:nvSpPr>
        <p:spPr>
          <a:xfrm>
            <a:off x="762000" y="495300"/>
            <a:ext cx="323850" cy="323850"/>
          </a:xfrm>
          <a:prstGeom prst="hexagon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3000FD6-F1FD-4446-84ED-119814A6DCBC}"/>
              </a:ext>
            </a:extLst>
          </p:cNvPr>
          <p:cNvSpPr txBox="1"/>
          <p:nvPr/>
        </p:nvSpPr>
        <p:spPr>
          <a:xfrm>
            <a:off x="1219200" y="409575"/>
            <a:ext cx="10668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  <a:ea typeface="Segoe UI"/>
              </a:rPr>
              <a:t>Reporting, centralisation &amp; traçabilité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1BFB375-0220-4D32-A937-2234A6CF3646}"/>
              </a:ext>
            </a:extLst>
          </p:cNvPr>
          <p:cNvSpPr/>
          <p:nvPr/>
        </p:nvSpPr>
        <p:spPr>
          <a:xfrm>
            <a:off x="762000" y="1428750"/>
            <a:ext cx="3429000" cy="44767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82030CB-C678-4F70-A858-B679D035B22D}"/>
              </a:ext>
            </a:extLst>
          </p:cNvPr>
          <p:cNvSpPr txBox="1"/>
          <p:nvPr/>
        </p:nvSpPr>
        <p:spPr>
          <a:xfrm>
            <a:off x="1028700" y="1666875"/>
            <a:ext cx="28575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2DD4BF"/>
                </a:solidFill>
                <a:latin typeface="Segoe UI"/>
                <a:ea typeface="Segoe UI"/>
              </a:rPr>
              <a:t>RAPPORTS LISIBLES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D42F79B-9BF8-4DC7-B45F-765665B9101E}"/>
              </a:ext>
            </a:extLst>
          </p:cNvPr>
          <p:cNvSpPr txBox="1"/>
          <p:nvPr/>
        </p:nvSpPr>
        <p:spPr>
          <a:xfrm>
            <a:off x="1028700" y="2047875"/>
            <a:ext cx="2895600" cy="3810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Chaque contrôle dépose ses rapports en artefacts du run (JSON, + HTML pour ZAP, SBOM CycloneDX).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annotate.py ajoute une annotation par finding sur son fichier et sa ligne.</a:t>
            </a:r>
          </a:p>
          <a:p>
            <a:pPr algn="l">
              <a:lnSpc>
                <a:spcPct val="125000"/>
              </a:lnSpc>
            </a:pPr>
            <a:r>
              <a:rPr sz="1300" i="1">
                <a:solidFill>
                  <a:srgbClr val="9FB3C8"/>
                </a:solidFill>
                <a:latin typeface="Segoe UI"/>
                <a:ea typeface="Segoe UI"/>
              </a:rPr>
              <a:t>Rouge = nouveau/bloquant, jaune = connu/accepté. Le développeur voit OÙ est le problème.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FBBC887-14EA-45A4-B9EF-5A752D96A7AF}"/>
              </a:ext>
            </a:extLst>
          </p:cNvPr>
          <p:cNvSpPr/>
          <p:nvPr/>
        </p:nvSpPr>
        <p:spPr>
          <a:xfrm>
            <a:off x="4381500" y="1428750"/>
            <a:ext cx="3429000" cy="44767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95EA303-7AA6-4CC0-BC24-815FADBCFC6B}"/>
              </a:ext>
            </a:extLst>
          </p:cNvPr>
          <p:cNvSpPr txBox="1"/>
          <p:nvPr/>
        </p:nvSpPr>
        <p:spPr>
          <a:xfrm>
            <a:off x="4648200" y="1666875"/>
            <a:ext cx="3048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2DD4BF"/>
                </a:solidFill>
                <a:latin typeface="Segoe UI"/>
                <a:ea typeface="Segoe UI"/>
              </a:rPr>
              <a:t>CENTRALISATION &amp; HISTORIQUE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5C7B42F-AEA4-48D3-994B-5F1200D4A073}"/>
              </a:ext>
            </a:extLst>
          </p:cNvPr>
          <p:cNvSpPr txBox="1"/>
          <p:nvPr/>
        </p:nvSpPr>
        <p:spPr>
          <a:xfrm>
            <a:off x="4648200" y="2047875"/>
            <a:ext cx="2895600" cy="3810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SonarQube Cloud regroupe ses résultats et ceux de Semgrep, Gitleaks, Trivy fs et Checkov.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Page Activity : la tendance du niveau de sécurité, run après run.</a:t>
            </a:r>
          </a:p>
          <a:p>
            <a:pPr algn="l">
              <a:lnSpc>
                <a:spcPct val="125000"/>
              </a:lnSpc>
            </a:pPr>
            <a:r>
              <a:rPr sz="1300" i="1">
                <a:solidFill>
                  <a:srgbClr val="9FB3C8"/>
                </a:solidFill>
                <a:latin typeface="Segoe UI"/>
                <a:ea typeface="Segoe UI"/>
              </a:rPr>
              <a:t>Une seule vue pour toute l'équipe, pas seulement un instantané.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62ADFF81-37A6-486F-B20C-39BABB4236F7}"/>
              </a:ext>
            </a:extLst>
          </p:cNvPr>
          <p:cNvSpPr/>
          <p:nvPr/>
        </p:nvSpPr>
        <p:spPr>
          <a:xfrm>
            <a:off x="8001000" y="1428750"/>
            <a:ext cx="3429000" cy="447675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1EC59F0-83E3-4D10-BB75-4C4F96DF443E}"/>
              </a:ext>
            </a:extLst>
          </p:cNvPr>
          <p:cNvSpPr txBox="1"/>
          <p:nvPr/>
        </p:nvSpPr>
        <p:spPr>
          <a:xfrm>
            <a:off x="8267700" y="1666875"/>
            <a:ext cx="3048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2DD4BF"/>
                </a:solidFill>
                <a:latin typeface="Segoe UI"/>
                <a:ea typeface="Segoe UI"/>
              </a:rPr>
              <a:t>TRAÇABILITÉ &amp; NOTIFICATION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BC0576B-BFA9-498D-A247-E419FD4D6AE5}"/>
              </a:ext>
            </a:extLst>
          </p:cNvPr>
          <p:cNvSpPr txBox="1"/>
          <p:nvPr/>
        </p:nvSpPr>
        <p:spPr>
          <a:xfrm>
            <a:off x="8267700" y="2047875"/>
            <a:ext cx="2895600" cy="3810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attestation.md : SHA commit, digest image, URL du run, horodatage, SHA-256 des entrées.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deploy re-taggue ce même digest : qui a déployé quoi, avec quels résultats.</a:t>
            </a:r>
          </a:p>
          <a:p>
            <a:pPr algn="l">
              <a:lnSpc>
                <a:spcPct val="125000"/>
              </a:lnSpc>
            </a:pPr>
            <a:r>
              <a:rPr sz="1300" i="1">
                <a:solidFill>
                  <a:srgbClr val="9FB3C8"/>
                </a:solidFill>
                <a:latin typeface="Segoe UI"/>
                <a:ea typeface="Segoe UI"/>
              </a:rPr>
              <a:t>notify.py alerte Teams/Slack/Discord/email en cas de blocage.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620E7C1-4694-4580-9EBE-29C93D884FD6}"/>
              </a:ext>
            </a:extLst>
          </p:cNvPr>
          <p:cNvSpPr/>
          <p:nvPr/>
        </p:nvSpPr>
        <p:spPr>
          <a:xfrm>
            <a:off x="762000" y="495300"/>
            <a:ext cx="323850" cy="323850"/>
          </a:xfrm>
          <a:prstGeom prst="hexagon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E3E7CA5-74DF-4A26-800A-D9BD6A208AB8}"/>
              </a:ext>
            </a:extLst>
          </p:cNvPr>
          <p:cNvSpPr txBox="1"/>
          <p:nvPr/>
        </p:nvSpPr>
        <p:spPr>
          <a:xfrm>
            <a:off x="1219200" y="409575"/>
            <a:ext cx="10668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  <a:ea typeface="Segoe UI"/>
              </a:rPr>
              <a:t>Résultats obtenus (preuves de vos runs)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B904E0B-6E61-4D75-92DC-73DA26701C03}"/>
              </a:ext>
            </a:extLst>
          </p:cNvPr>
          <p:cNvSpPr txBox="1"/>
          <p:nvPr/>
        </p:nvSpPr>
        <p:spPr>
          <a:xfrm>
            <a:off x="762000" y="952500"/>
            <a:ext cx="104775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300" i="1">
                <a:solidFill>
                  <a:srgbClr val="9FB3C8"/>
                </a:solidFill>
                <a:latin typeface="Segoe UI"/>
                <a:ea typeface="Segoe UI"/>
              </a:rPr>
              <a:t>Remplacer chaque cadre par la capture correspondante (checklist dans docs/SETUP.md §7).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65CA5CF-AEF5-465B-A8F5-6D2FA7FC0A42}"/>
              </a:ext>
            </a:extLst>
          </p:cNvPr>
          <p:cNvSpPr/>
          <p:nvPr/>
        </p:nvSpPr>
        <p:spPr>
          <a:xfrm>
            <a:off x="762000" y="1333500"/>
            <a:ext cx="3429000" cy="1952625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D4838D2-D2D6-451A-85A2-2BCE9C8F96B5}"/>
              </a:ext>
            </a:extLst>
          </p:cNvPr>
          <p:cNvSpPr txBox="1"/>
          <p:nvPr/>
        </p:nvSpPr>
        <p:spPr>
          <a:xfrm>
            <a:off x="952500" y="1447800"/>
            <a:ext cx="30480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  <a:ea typeface="Segoe UI"/>
              </a:rPr>
              <a:t>Gitleaks — secrets détectés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619D302-F880-41CC-AF8F-34D067406D2F}"/>
              </a:ext>
            </a:extLst>
          </p:cNvPr>
          <p:cNvSpPr/>
          <p:nvPr/>
        </p:nvSpPr>
        <p:spPr>
          <a:xfrm>
            <a:off x="952500" y="1733550"/>
            <a:ext cx="3048000" cy="142875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2D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5FE6DE7-E5D8-4101-999A-A7E617266B15}"/>
              </a:ext>
            </a:extLst>
          </p:cNvPr>
          <p:cNvSpPr txBox="1"/>
          <p:nvPr/>
        </p:nvSpPr>
        <p:spPr>
          <a:xfrm>
            <a:off x="952500" y="1733550"/>
            <a:ext cx="3048000" cy="1428750"/>
          </a:xfrm>
        </p:spPr>
        <p:txBody>
          <a:bodyPr wrap="square" rtlCol="0" lIns="0" tIns="0" rIns="0" bIns="0" anchor="ctr"/>
          <a:lstStyle/>
          <a:p>
            <a:pPr algn="ctr"/>
            <a:r>
              <a:rPr sz="1400">
                <a:solidFill>
                  <a:srgbClr val="6B8299"/>
                </a:solidFill>
                <a:latin typeface="Segoe UI"/>
                <a:ea typeface="Segoe UI"/>
              </a:rPr>
              <a:t>[ capture à insérer ]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8196A40-3BEA-4DA8-9735-65C8B0053E78}"/>
              </a:ext>
            </a:extLst>
          </p:cNvPr>
          <p:cNvSpPr/>
          <p:nvPr/>
        </p:nvSpPr>
        <p:spPr>
          <a:xfrm>
            <a:off x="4381500" y="1333500"/>
            <a:ext cx="3429000" cy="1952625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8605744-0AC4-451B-967E-95DC7E9C78F0}"/>
              </a:ext>
            </a:extLst>
          </p:cNvPr>
          <p:cNvSpPr txBox="1"/>
          <p:nvPr/>
        </p:nvSpPr>
        <p:spPr>
          <a:xfrm>
            <a:off x="4572000" y="1447800"/>
            <a:ext cx="30480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  <a:ea typeface="Segoe UI"/>
              </a:rPr>
              <a:t>Semgrep — injections SQL (CWE-89)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F74253B-AAB6-47FA-94AD-BC8A10A6AE14}"/>
              </a:ext>
            </a:extLst>
          </p:cNvPr>
          <p:cNvSpPr/>
          <p:nvPr/>
        </p:nvSpPr>
        <p:spPr>
          <a:xfrm>
            <a:off x="4572000" y="1733550"/>
            <a:ext cx="3048000" cy="142875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2D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56765A6-798E-4475-8BAB-1E90FD66CBC0}"/>
              </a:ext>
            </a:extLst>
          </p:cNvPr>
          <p:cNvSpPr txBox="1"/>
          <p:nvPr/>
        </p:nvSpPr>
        <p:spPr>
          <a:xfrm>
            <a:off x="4572000" y="1733550"/>
            <a:ext cx="3048000" cy="1428750"/>
          </a:xfrm>
        </p:spPr>
        <p:txBody>
          <a:bodyPr wrap="square" rtlCol="0" lIns="0" tIns="0" rIns="0" bIns="0" anchor="ctr"/>
          <a:lstStyle/>
          <a:p>
            <a:pPr algn="ctr"/>
            <a:r>
              <a:rPr sz="1400">
                <a:solidFill>
                  <a:srgbClr val="6B8299"/>
                </a:solidFill>
                <a:latin typeface="Segoe UI"/>
                <a:ea typeface="Segoe UI"/>
              </a:rPr>
              <a:t>[ capture à insérer ]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5EB32E89-9277-4587-A1DB-A0E2DAA4F63E}"/>
              </a:ext>
            </a:extLst>
          </p:cNvPr>
          <p:cNvSpPr/>
          <p:nvPr/>
        </p:nvSpPr>
        <p:spPr>
          <a:xfrm>
            <a:off x="8001000" y="1333500"/>
            <a:ext cx="3429000" cy="1952625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558F98D-E67B-4638-9CA6-DBABFDA4C02F}"/>
              </a:ext>
            </a:extLst>
          </p:cNvPr>
          <p:cNvSpPr txBox="1"/>
          <p:nvPr/>
        </p:nvSpPr>
        <p:spPr>
          <a:xfrm>
            <a:off x="8191500" y="1447800"/>
            <a:ext cx="30480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  <a:ea typeface="Segoe UI"/>
              </a:rPr>
              <a:t>Trivy image + SBOM CycloneDX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C111C63D-8C55-405F-88F5-AF22406AE87E}"/>
              </a:ext>
            </a:extLst>
          </p:cNvPr>
          <p:cNvSpPr/>
          <p:nvPr/>
        </p:nvSpPr>
        <p:spPr>
          <a:xfrm>
            <a:off x="8191500" y="1733550"/>
            <a:ext cx="3048000" cy="142875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2D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BBD811C-13D5-4DE7-80AE-FB8B48009B1C}"/>
              </a:ext>
            </a:extLst>
          </p:cNvPr>
          <p:cNvSpPr txBox="1"/>
          <p:nvPr/>
        </p:nvSpPr>
        <p:spPr>
          <a:xfrm>
            <a:off x="8191500" y="1733550"/>
            <a:ext cx="3048000" cy="1428750"/>
          </a:xfrm>
        </p:spPr>
        <p:txBody>
          <a:bodyPr wrap="square" rtlCol="0" lIns="0" tIns="0" rIns="0" bIns="0" anchor="ctr"/>
          <a:lstStyle/>
          <a:p>
            <a:pPr algn="ctr"/>
            <a:r>
              <a:rPr sz="1400">
                <a:solidFill>
                  <a:srgbClr val="6B8299"/>
                </a:solidFill>
                <a:latin typeface="Segoe UI"/>
                <a:ea typeface="Segoe UI"/>
              </a:rPr>
              <a:t>[ capture à insérer ]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61D1033E-2627-42E6-BE18-3D914A91F270}"/>
              </a:ext>
            </a:extLst>
          </p:cNvPr>
          <p:cNvSpPr/>
          <p:nvPr/>
        </p:nvSpPr>
        <p:spPr>
          <a:xfrm>
            <a:off x="762000" y="3476625"/>
            <a:ext cx="3429000" cy="1952625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C334D02-9A75-4D3F-9CA6-24AAAACCD4D2}"/>
              </a:ext>
            </a:extLst>
          </p:cNvPr>
          <p:cNvSpPr txBox="1"/>
          <p:nvPr/>
        </p:nvSpPr>
        <p:spPr>
          <a:xfrm>
            <a:off x="952500" y="3590925"/>
            <a:ext cx="30480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  <a:ea typeface="Segoe UI"/>
              </a:rPr>
              <a:t>OWASP ZAP — zap-report.html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E4CC0CBC-A4EB-4F88-AD43-AA1D851FDE1A}"/>
              </a:ext>
            </a:extLst>
          </p:cNvPr>
          <p:cNvSpPr/>
          <p:nvPr/>
        </p:nvSpPr>
        <p:spPr>
          <a:xfrm>
            <a:off x="952500" y="3876675"/>
            <a:ext cx="3048000" cy="142875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2D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4827D7B-4D17-40DA-BA5F-C9776EC53ABB}"/>
              </a:ext>
            </a:extLst>
          </p:cNvPr>
          <p:cNvSpPr txBox="1"/>
          <p:nvPr/>
        </p:nvSpPr>
        <p:spPr>
          <a:xfrm>
            <a:off x="952500" y="3876675"/>
            <a:ext cx="3048000" cy="1428750"/>
          </a:xfrm>
        </p:spPr>
        <p:txBody>
          <a:bodyPr wrap="square" rtlCol="0" lIns="0" tIns="0" rIns="0" bIns="0" anchor="ctr"/>
          <a:lstStyle/>
          <a:p>
            <a:pPr algn="ctr"/>
            <a:r>
              <a:rPr sz="1400">
                <a:solidFill>
                  <a:srgbClr val="6B8299"/>
                </a:solidFill>
                <a:latin typeface="Segoe UI"/>
                <a:ea typeface="Segoe UI"/>
              </a:rPr>
              <a:t>[ capture à insérer ]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11AEEA79-5593-4F69-9612-5C0F6BBFACD0}"/>
              </a:ext>
            </a:extLst>
          </p:cNvPr>
          <p:cNvSpPr/>
          <p:nvPr/>
        </p:nvSpPr>
        <p:spPr>
          <a:xfrm>
            <a:off x="4381500" y="3476625"/>
            <a:ext cx="3429000" cy="1952625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F59E0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7145FB5-482E-4E60-8FAA-789613F9FEAB}"/>
              </a:ext>
            </a:extLst>
          </p:cNvPr>
          <p:cNvSpPr txBox="1"/>
          <p:nvPr/>
        </p:nvSpPr>
        <p:spPr>
          <a:xfrm>
            <a:off x="4572000" y="3590925"/>
            <a:ext cx="30480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F59E0B"/>
                </a:solidFill>
                <a:latin typeface="Segoe UI"/>
                <a:ea typeface="Segoe UI"/>
              </a:rPr>
              <a:t>Quality gate — run BLOQUÉ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A726D6DB-855E-4731-840C-34B363B3CEA9}"/>
              </a:ext>
            </a:extLst>
          </p:cNvPr>
          <p:cNvSpPr/>
          <p:nvPr/>
        </p:nvSpPr>
        <p:spPr>
          <a:xfrm>
            <a:off x="4572000" y="3876675"/>
            <a:ext cx="3048000" cy="142875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F59E0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4FC1485-2C7C-40AC-B1D6-382174BDD649}"/>
              </a:ext>
            </a:extLst>
          </p:cNvPr>
          <p:cNvSpPr txBox="1"/>
          <p:nvPr/>
        </p:nvSpPr>
        <p:spPr>
          <a:xfrm>
            <a:off x="4572000" y="3876675"/>
            <a:ext cx="3048000" cy="1428750"/>
          </a:xfrm>
        </p:spPr>
        <p:txBody>
          <a:bodyPr wrap="square" rtlCol="0" lIns="0" tIns="0" rIns="0" bIns="0" anchor="ctr"/>
          <a:lstStyle/>
          <a:p>
            <a:pPr algn="ctr"/>
            <a:r>
              <a:rPr sz="1400">
                <a:solidFill>
                  <a:srgbClr val="6B8299"/>
                </a:solidFill>
                <a:latin typeface="Segoe UI"/>
                <a:ea typeface="Segoe UI"/>
              </a:rPr>
              <a:t>[ capture à insérer ]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6916135F-2360-4763-BFAC-E921C548B50D}"/>
              </a:ext>
            </a:extLst>
          </p:cNvPr>
          <p:cNvSpPr/>
          <p:nvPr/>
        </p:nvSpPr>
        <p:spPr>
          <a:xfrm>
            <a:off x="8001000" y="3476625"/>
            <a:ext cx="3429000" cy="1952625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E793FDC-F0D3-4FFD-AC48-117E6FF35131}"/>
              </a:ext>
            </a:extLst>
          </p:cNvPr>
          <p:cNvSpPr txBox="1"/>
          <p:nvPr/>
        </p:nvSpPr>
        <p:spPr>
          <a:xfrm>
            <a:off x="8191500" y="3590925"/>
            <a:ext cx="3048000" cy="247650"/>
          </a:xfrm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2DD4BF"/>
                </a:solidFill>
                <a:latin typeface="Segoe UI"/>
                <a:ea typeface="Segoe UI"/>
              </a:rPr>
              <a:t>GHCR — image déployée (main)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B3CB688F-3340-415F-827A-78B5755A617E}"/>
              </a:ext>
            </a:extLst>
          </p:cNvPr>
          <p:cNvSpPr/>
          <p:nvPr/>
        </p:nvSpPr>
        <p:spPr>
          <a:xfrm>
            <a:off x="8191500" y="3876675"/>
            <a:ext cx="3048000" cy="1428750"/>
          </a:xfrm>
          <a:prstGeom prst="roundRect">
            <a:avLst/>
          </a:prstGeom>
          <a:solidFill>
            <a:srgbClr val="0F1B2D"/>
          </a:solidFill>
          <a:ln w="12700">
            <a:solidFill>
              <a:srgbClr val="2D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8C7524-ADB9-490C-BCFC-39C97AF8E8BA}"/>
              </a:ext>
            </a:extLst>
          </p:cNvPr>
          <p:cNvSpPr txBox="1"/>
          <p:nvPr/>
        </p:nvSpPr>
        <p:spPr>
          <a:xfrm>
            <a:off x="8191500" y="3876675"/>
            <a:ext cx="3048000" cy="1428750"/>
          </a:xfrm>
        </p:spPr>
        <p:txBody>
          <a:bodyPr wrap="square" rtlCol="0" lIns="0" tIns="0" rIns="0" bIns="0" anchor="ctr"/>
          <a:lstStyle/>
          <a:p>
            <a:pPr algn="ctr"/>
            <a:r>
              <a:rPr sz="1400">
                <a:solidFill>
                  <a:srgbClr val="6B8299"/>
                </a:solidFill>
                <a:latin typeface="Segoe UI"/>
                <a:ea typeface="Segoe UI"/>
              </a:rPr>
              <a:t>[ capture à insérer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C3216CB-2EF0-4B49-8668-EBEA5CE4772F}"/>
              </a:ext>
            </a:extLst>
          </p:cNvPr>
          <p:cNvSpPr/>
          <p:nvPr/>
        </p:nvSpPr>
        <p:spPr>
          <a:xfrm>
            <a:off x="762000" y="495300"/>
            <a:ext cx="323850" cy="323850"/>
          </a:xfrm>
          <a:prstGeom prst="hexagon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311A85F-2885-42D1-917F-EB2E30B797C7}"/>
              </a:ext>
            </a:extLst>
          </p:cNvPr>
          <p:cNvSpPr txBox="1"/>
          <p:nvPr/>
        </p:nvSpPr>
        <p:spPr>
          <a:xfrm>
            <a:off x="1219200" y="409575"/>
            <a:ext cx="10668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  <a:ea typeface="Segoe UI"/>
              </a:rPr>
              <a:t>Difficultés &amp; axes d'amélioration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36600EF-B817-46AE-9821-2AAC53BC7A5C}"/>
              </a:ext>
            </a:extLst>
          </p:cNvPr>
          <p:cNvSpPr/>
          <p:nvPr/>
        </p:nvSpPr>
        <p:spPr>
          <a:xfrm>
            <a:off x="762000" y="1333500"/>
            <a:ext cx="5191125" cy="476250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39EF4A8-181A-4B33-9E10-2F9FDE6E0457}"/>
              </a:ext>
            </a:extLst>
          </p:cNvPr>
          <p:cNvSpPr txBox="1"/>
          <p:nvPr/>
        </p:nvSpPr>
        <p:spPr>
          <a:xfrm>
            <a:off x="1028700" y="1571625"/>
            <a:ext cx="47625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F59E0B"/>
                </a:solidFill>
                <a:latin typeface="Segoe UI"/>
                <a:ea typeface="Segoe UI"/>
              </a:rPr>
              <a:t>DIFFICULTÉS RENCONTRÉES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0E9DFC3-EF47-49AB-BCD1-953123595D57}"/>
              </a:ext>
            </a:extLst>
          </p:cNvPr>
          <p:cNvSpPr txBox="1"/>
          <p:nvPr/>
        </p:nvSpPr>
        <p:spPr>
          <a:xfrm>
            <a:off x="1028700" y="1952625"/>
            <a:ext cx="4657725" cy="400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Bruit de fond :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une app volontairement vulnérable faisait échouer chaque run → tag baseline + mode diff.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Placement du build :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le faire dépendre des scans source cassait les contrôles d'image → build en parallèle.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Cohérence local/CI :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--no-verify contourne les hooks → mêmes contrôles rejoués côté serveur.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Faux positifs :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gérés par exemptions justifiées et bornées, pas en désactivant les outils.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Dispersion : </a:t>
            </a: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~20 workflows redondants → consolidation en un pipeline unique.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D40996A-8906-4DCE-96DA-9840A38705C9}"/>
              </a:ext>
            </a:extLst>
          </p:cNvPr>
          <p:cNvSpPr/>
          <p:nvPr/>
        </p:nvSpPr>
        <p:spPr>
          <a:xfrm>
            <a:off x="6238875" y="1333500"/>
            <a:ext cx="5191125" cy="4762500"/>
          </a:xfrm>
          <a:prstGeom prst="roundRect">
            <a:avLst/>
          </a:prstGeom>
          <a:solidFill>
            <a:srgbClr val="17263B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4A41ED3-86D1-45A4-BB0E-17C80AF3D50C}"/>
              </a:ext>
            </a:extLst>
          </p:cNvPr>
          <p:cNvSpPr txBox="1"/>
          <p:nvPr/>
        </p:nvSpPr>
        <p:spPr>
          <a:xfrm>
            <a:off x="6505575" y="1571625"/>
            <a:ext cx="47625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2DD4BF"/>
                </a:solidFill>
                <a:latin typeface="Segoe UI"/>
                <a:ea typeface="Segoe UI"/>
              </a:rPr>
              <a:t>AXES D'AMÉLIORATION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1EE9A95-EE70-420A-ACFA-7E922A33CA90}"/>
              </a:ext>
            </a:extLst>
          </p:cNvPr>
          <p:cNvSpPr txBox="1"/>
          <p:nvPr/>
        </p:nvSpPr>
        <p:spPr>
          <a:xfrm>
            <a:off x="6505575" y="1952625"/>
            <a:ext cx="4657725" cy="400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Signature d'artefacts (Cosign) + vérification au déploiement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Vérification des licences des dépendances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DAST authentifié (ZAP avec contexte de connexion)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Tests TLS/HTTPS (cible en HTTP local aujourd'hui)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Journalisation &amp; monitoring de sécurité (Grafana/ELK)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Contrôle SSRF dédié</a:t>
            </a:r>
          </a:p>
          <a:p>
            <a:pPr algn="l">
              <a:lnSpc>
                <a:spcPct val="122000"/>
              </a:lnSpc>
            </a:pPr>
            <a:r>
              <a:rPr sz="1400">
                <a:solidFill>
                  <a:srgbClr val="E8EEF7"/>
                </a:solidFill>
                <a:latin typeface="Segoe UI"/>
                <a:ea typeface="Segoe UI"/>
              </a:rPr>
              <a:t>• Déploiement vers un environnement réel isolé (staging → prod)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1A9D157-0289-4639-BEC8-853B9172A30D}"/>
              </a:ext>
            </a:extLst>
          </p:cNvPr>
          <p:cNvSpPr/>
          <p:nvPr/>
        </p:nvSpPr>
        <p:spPr>
          <a:xfrm>
            <a:off x="8572500" y="571500"/>
            <a:ext cx="2857500" cy="2857500"/>
          </a:xfrm>
          <a:prstGeom prst="hexagon">
            <a:avLst/>
          </a:prstGeom>
          <a:solidFill>
            <a:srgbClr val="17263B"/>
          </a:solidFill>
          <a:ln w="254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F299928-3322-4F11-B814-925290A073FB}"/>
              </a:ext>
            </a:extLst>
          </p:cNvPr>
          <p:cNvSpPr/>
          <p:nvPr/>
        </p:nvSpPr>
        <p:spPr>
          <a:xfrm>
            <a:off x="9239250" y="1238250"/>
            <a:ext cx="1524000" cy="1524000"/>
          </a:xfrm>
          <a:prstGeom prst="hexagon">
            <a:avLst/>
          </a:prstGeom>
          <a:solidFill>
            <a:srgbClr val="0F1B2D"/>
          </a:solidFill>
          <a:ln w="38100">
            <a:solidFill>
              <a:srgbClr val="2D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CB6691D-65BE-41BF-97AF-640ADD9C0EBB}"/>
              </a:ext>
            </a:extLst>
          </p:cNvPr>
          <p:cNvSpPr/>
          <p:nvPr/>
        </p:nvSpPr>
        <p:spPr>
          <a:xfrm>
            <a:off x="9705975" y="1704975"/>
            <a:ext cx="590550" cy="590550"/>
          </a:xfrm>
          <a:prstGeom prst="hexagon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36028DE-0600-4F8D-A74B-D722DD1E887A}"/>
              </a:ext>
            </a:extLst>
          </p:cNvPr>
          <p:cNvSpPr txBox="1"/>
          <p:nvPr/>
        </p:nvSpPr>
        <p:spPr>
          <a:xfrm>
            <a:off x="857250" y="857250"/>
            <a:ext cx="3810000" cy="571500"/>
          </a:xfrm>
        </p:spPr>
        <p:txBody>
          <a:bodyPr wrap="square" rtlCol="0" lIns="0" tIns="0" rIns="0" bIns="0" anchor="ctr"/>
          <a:lstStyle/>
          <a:p>
            <a:pPr algn="l"/>
            <a:r>
              <a:rPr sz="1600" b="1">
                <a:solidFill>
                  <a:srgbClr val="2DD4BF"/>
                </a:solidFill>
                <a:latin typeface="Segoe UI"/>
                <a:ea typeface="Segoe UI"/>
              </a:rPr>
              <a:t>CONCLUSION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3DD227C-CE22-4D85-855B-BC409811D451}"/>
              </a:ext>
            </a:extLst>
          </p:cNvPr>
          <p:cNvSpPr txBox="1"/>
          <p:nvPr/>
        </p:nvSpPr>
        <p:spPr>
          <a:xfrm>
            <a:off x="857250" y="1428750"/>
            <a:ext cx="76200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FFFFFF"/>
                </a:solidFill>
                <a:latin typeface="Segoe UI"/>
                <a:ea typeface="Segoe UI"/>
              </a:rPr>
              <a:t>La sécurité, continue et bloquante,</a:t>
            </a:r>
          </a:p>
          <a:p>
            <a:pPr algn="l">
              <a:lnSpc>
                <a:spcPct val="108000"/>
              </a:lnSpc>
            </a:pPr>
            <a:r>
              <a:rPr sz="3400" b="1">
                <a:solidFill>
                  <a:srgbClr val="FFFFFF"/>
                </a:solidFill>
                <a:latin typeface="Segoe UI"/>
                <a:ea typeface="Segoe UI"/>
              </a:rPr>
              <a:t>de l'IDE jusqu'à la production.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5802FE-9399-4756-9C51-8E67B6E3F0A1}"/>
              </a:ext>
            </a:extLst>
          </p:cNvPr>
          <p:cNvSpPr txBox="1"/>
          <p:nvPr/>
        </p:nvSpPr>
        <p:spPr>
          <a:xfrm>
            <a:off x="857250" y="2857500"/>
            <a:ext cx="7429500" cy="2857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  <a:ea typeface="Segoe UI"/>
              </a:rPr>
              <a:t>Tous les contrôles intégrés : </a:t>
            </a: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secrets, SAST, SCA, image, DAST, IaC, SBOM.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  <a:ea typeface="Segoe UI"/>
              </a:rPr>
              <a:t>Décision unique et traçable : </a:t>
            </a: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quality gate + attestation, seuils justifiés, fail secure.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>
                <a:solidFill>
                  <a:srgbClr val="2DD4BF"/>
                </a:solidFill>
                <a:latin typeface="Segoe UI"/>
                <a:ea typeface="Segoe UI"/>
              </a:rPr>
              <a:t>Build once, promote : </a:t>
            </a: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ce qui est déployé est, par construction, ce qui a été scanné.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DD4BF"/>
                </a:solidFill>
                <a:latin typeface="Segoe UI"/>
                <a:ea typeface="Segoe UI"/>
              </a:rPr>
              <a:t>Au-delà des outils : </a:t>
            </a:r>
            <a:r>
              <a:rPr sz="1500">
                <a:solidFill>
                  <a:srgbClr val="E8EEF7"/>
                </a:solidFill>
                <a:latin typeface="Segoe UI"/>
                <a:ea typeface="Segoe UI"/>
              </a:rPr>
              <a:t>un retour rapide et pédagogique au développeur, cœur du shift-left.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9BF12DF-16F4-4527-A4EE-02529461B4FA}"/>
              </a:ext>
            </a:extLst>
          </p:cNvPr>
          <p:cNvSpPr/>
          <p:nvPr/>
        </p:nvSpPr>
        <p:spPr>
          <a:xfrm>
            <a:off x="762000" y="5810250"/>
            <a:ext cx="10668000" cy="666750"/>
          </a:xfrm>
          <a:prstGeom prst="roundRect">
            <a:avLst/>
          </a:prstGeom>
          <a:solidFill>
            <a:srgbClr val="122036"/>
          </a:solidFill>
          <a:ln w="127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B4DAE63-F37D-45D9-B79D-4CBE2E920DC6}"/>
              </a:ext>
            </a:extLst>
          </p:cNvPr>
          <p:cNvSpPr txBox="1"/>
          <p:nvPr/>
        </p:nvSpPr>
        <p:spPr>
          <a:xfrm>
            <a:off x="952500" y="5934075"/>
            <a:ext cx="10287000" cy="419100"/>
          </a:xfrm>
        </p:spPr>
        <p:txBody>
          <a:bodyPr wrap="square" rtlCol="0" lIns="0" tIns="0" rIns="0" bIns="0" anchor="ctr"/>
          <a:lstStyle/>
          <a:p>
            <a:pPr algn="ctr"/>
            <a:r>
              <a:rPr sz="1400">
                <a:solidFill>
                  <a:srgbClr val="9FB3C8"/>
                </a:solidFill>
                <a:latin typeface="Segoe UI"/>
                <a:ea typeface="Segoe UI"/>
              </a:rPr>
              <a:t>Pipeline lisible, reproductible et auditable  ·  Documentation complète dans docs/  ·  Merci de votre attention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BC5FE279-381A-47BD-8BF4-6C86F9C2BCF4}"/>
              </a:ext>
            </a:extLst>
          </p:cNvPr>
          <p:cNvSpPr/>
          <p:nvPr/>
        </p:nvSpPr>
        <p:spPr>
          <a:xfrm>
            <a:off x="8191500" y="1428750"/>
            <a:ext cx="3429000" cy="3429000"/>
          </a:xfrm>
          <a:prstGeom prst="hexagon">
            <a:avLst/>
          </a:prstGeom>
          <a:solidFill>
            <a:srgbClr val="17263B"/>
          </a:solidFill>
          <a:ln w="25400">
            <a:solidFill>
              <a:srgbClr val="24344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0246714-AC79-4AAD-8DB4-ECDCD3EE024A}"/>
              </a:ext>
            </a:extLst>
          </p:cNvPr>
          <p:cNvSpPr/>
          <p:nvPr/>
        </p:nvSpPr>
        <p:spPr>
          <a:xfrm>
            <a:off x="9001125" y="2238375"/>
            <a:ext cx="1809750" cy="1809750"/>
          </a:xfrm>
          <a:prstGeom prst="hexagon">
            <a:avLst/>
          </a:prstGeom>
          <a:solidFill>
            <a:srgbClr val="0F1B2D"/>
          </a:solidFill>
          <a:ln w="38100">
            <a:solidFill>
              <a:srgbClr val="2DD4B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76B22FC-CD3B-490D-8EBE-F7CCA9C9536E}"/>
              </a:ext>
            </a:extLst>
          </p:cNvPr>
          <p:cNvSpPr/>
          <p:nvPr/>
        </p:nvSpPr>
        <p:spPr>
          <a:xfrm>
            <a:off x="9553575" y="2790825"/>
            <a:ext cx="704850" cy="704850"/>
          </a:xfrm>
          <a:prstGeom prst="hexagon">
            <a:avLst/>
          </a:prstGeom>
          <a:solidFill>
            <a:srgbClr val="2DD4B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08D9D00-E320-4D4E-9928-51E6AFDB4108}"/>
              </a:ext>
            </a:extLst>
          </p:cNvPr>
          <p:cNvSpPr/>
          <p:nvPr/>
        </p:nvSpPr>
        <p:spPr>
          <a:xfrm>
            <a:off x="857250" y="1571625"/>
            <a:ext cx="3619500" cy="381000"/>
          </a:xfrm>
          <a:prstGeom prst="roundRect">
            <a:avLst/>
          </a:prstGeom>
          <a:solidFill>
            <a:srgbClr val="2DD4BF"/>
          </a:solidFill>
        </p:spPr>
        <p:txBody>
          <a:bodyPr wrap="square" rtlCol="0" lIns="0" tIns="0" rIns="0" bIns="0" anchor="ctr"/>
          <a:lstStyle/>
          <a:p>
            <a:pPr algn="l"/>
            <a:r>
              <a:rPr sz="1300" b="1">
                <a:solidFill>
                  <a:srgbClr val="0F1B2D"/>
                </a:solidFill>
                <a:latin typeface="Segoe UI"/>
                <a:ea typeface="Segoe UI"/>
              </a:rPr>
              <a:t>PIPELINE CI/CD  ·  GITHUB ACTIONS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98D9A8D-BC22-45EA-A0F7-75D9944831C2}"/>
              </a:ext>
            </a:extLst>
          </p:cNvPr>
          <p:cNvSpPr txBox="1"/>
          <p:nvPr/>
        </p:nvSpPr>
        <p:spPr>
          <a:xfrm>
            <a:off x="857250" y="2190750"/>
            <a:ext cx="72390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Segoe UI"/>
                <a:ea typeface="Segoe UI"/>
              </a:rPr>
              <a:t>Sécurisation DevSecOps</a:t>
            </a:r>
          </a:p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Segoe UI"/>
                <a:ea typeface="Segoe UI"/>
              </a:rPr>
              <a:t>d'un pipeline CI/CD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B1CBB19-0FE7-4339-9CDA-85A35570A89A}"/>
              </a:ext>
            </a:extLst>
          </p:cNvPr>
          <p:cNvSpPr txBox="1"/>
          <p:nvPr/>
        </p:nvSpPr>
        <p:spPr>
          <a:xfrm>
            <a:off x="857250" y="4114800"/>
            <a:ext cx="70485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900">
                <a:solidFill>
                  <a:srgbClr val="9FB3C8"/>
                </a:solidFill>
                <a:latin typeface="Segoe UI"/>
                <a:ea typeface="Segoe UI"/>
              </a:rPr>
              <a:t>Shift-left security : de l'IDE du développeur jusqu'au déploiement,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72B5F01-AB84-4112-90BE-2AEB04B19723}"/>
              </a:ext>
            </a:extLst>
          </p:cNvPr>
          <p:cNvSpPr txBox="1"/>
          <p:nvPr/>
        </p:nvSpPr>
        <p:spPr>
          <a:xfrm>
            <a:off x="857250" y="4552950"/>
            <a:ext cx="70485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DD4BF"/>
                </a:solidFill>
                <a:latin typeface="Segoe UI"/>
                <a:ea typeface="Segoe UI"/>
              </a:rPr>
              <a:t>bloquer toute vulnérabilité critique avant la production.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340F283-E843-4EA7-AA6E-5323A19D0C0F}"/>
              </a:ext>
            </a:extLst>
          </p:cNvPr>
          <p:cNvSpPr txBox="1"/>
          <p:nvPr/>
        </p:nvSpPr>
        <p:spPr>
          <a:xfrm>
            <a:off x="857250" y="6000750"/>
            <a:ext cx="95250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6B8299"/>
                </a:solidFill>
                <a:latin typeface="Segoe UI"/>
                <a:ea typeface="Segoe UI"/>
              </a:rPr>
              <a:t>Application cible : OWASP Juice Shop   ·   Binôme : [Noms à compléter]   ·   Restitution orale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